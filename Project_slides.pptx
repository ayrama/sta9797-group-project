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Dynamics of Housing Prices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Saadman Chowdhury, Brandon Kokin, Ayrat Aymetov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 and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Housing prices reflect both </a:t>
            </a:r>
            <a:r>
              <a:rPr b="1"/>
              <a:t>structural attributes</a:t>
            </a:r>
            <a:r>
              <a:rPr/>
              <a:t> and </a:t>
            </a:r>
            <a:r>
              <a:rPr b="1"/>
              <a:t>location effects</a:t>
            </a:r>
          </a:p>
          <a:p>
            <a:pPr lvl="0"/>
            <a:r>
              <a:rPr/>
              <a:t>Understanding price drivers is critical for buyers, sellers, and investors</a:t>
            </a:r>
          </a:p>
          <a:p>
            <a:pPr lvl="0"/>
            <a:r>
              <a:rPr/>
              <a:t>This project combines </a:t>
            </a:r>
            <a:r>
              <a:rPr b="1"/>
              <a:t>explanatory</a:t>
            </a:r>
            <a:r>
              <a:rPr/>
              <a:t> and </a:t>
            </a:r>
            <a:r>
              <a:rPr b="1"/>
              <a:t>predictive</a:t>
            </a:r>
            <a:r>
              <a:rPr/>
              <a:t> modeling approaches</a:t>
            </a:r>
          </a:p>
          <a:p>
            <a:pPr lvl="0" indent="0" marL="0">
              <a:buNone/>
            </a:pPr>
            <a:r>
              <a:rPr b="1"/>
              <a:t>Methods used:</a:t>
            </a:r>
            <a:r>
              <a:rPr/>
              <a:t> - ANOVA and OLS regression - Logistic regression - Bootstrap inference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Identify key factors influencing housing prices</a:t>
            </a:r>
          </a:p>
          <a:p>
            <a:pPr lvl="0"/>
            <a:r>
              <a:rPr/>
              <a:t>Quantify neighborhood effects beyond structural characteristics</a:t>
            </a:r>
          </a:p>
          <a:p>
            <a:pPr lvl="0"/>
            <a:r>
              <a:rPr/>
              <a:t>Classify homes as selling </a:t>
            </a:r>
            <a:r>
              <a:rPr b="1"/>
              <a:t>above</a:t>
            </a:r>
            <a:r>
              <a:rPr/>
              <a:t> or </a:t>
            </a:r>
            <a:r>
              <a:rPr b="1"/>
              <a:t>below</a:t>
            </a:r>
            <a:r>
              <a:rPr/>
              <a:t> expected value</a:t>
            </a:r>
          </a:p>
          <a:p>
            <a:pPr lvl="0"/>
            <a:r>
              <a:rPr/>
              <a:t>Assess model uncertainty using nonparametric bootstrap methods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Ames Housing dataset</a:t>
            </a:r>
            <a:r>
              <a:rPr/>
              <a:t> (De Cock, 2011)</a:t>
            </a:r>
          </a:p>
          <a:p>
            <a:pPr lvl="0"/>
            <a:r>
              <a:rPr/>
              <a:t>2,930 residential property sales in Ames, Iowa</a:t>
            </a:r>
          </a:p>
          <a:p>
            <a:pPr lvl="0"/>
            <a:r>
              <a:rPr/>
              <a:t>82 variables:</a:t>
            </a:r>
          </a:p>
          <a:p>
            <a:pPr lvl="1"/>
            <a:r>
              <a:rPr/>
              <a:t>Nominal, ordinal, discrete, and continuous features</a:t>
            </a:r>
          </a:p>
          <a:p>
            <a:pPr lvl="0"/>
            <a:r>
              <a:rPr/>
              <a:t>Rich representation of housing structure and neighborhood context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Preparation and Modeling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Primary drivers:</a:t>
            </a:r>
            <a:r>
              <a:rPr/>
              <a:t> Neighborhood, Overall quality, Living area</a:t>
            </a:r>
            <a:br/>
          </a:p>
          <a:p>
            <a:pPr lvl="0"/>
            <a:r>
              <a:rPr b="1"/>
              <a:t>Secondary drivers:</a:t>
            </a:r>
            <a:r>
              <a:rPr/>
              <a:t> Basement area, Garage capacity, Architectural style</a:t>
            </a:r>
            <a:br/>
          </a:p>
          <a:p>
            <a:pPr lvl="0"/>
            <a:r>
              <a:rPr b="1"/>
              <a:t>Responses:</a:t>
            </a:r>
          </a:p>
          <a:p>
            <a:pPr lvl="1"/>
            <a:r>
              <a:rPr>
                <a:latin typeface="Courier"/>
              </a:rPr>
              <a:t>log(SalePrice)</a:t>
            </a:r>
            <a:r>
              <a:rPr/>
              <a:t> — explanatory modeling</a:t>
            </a:r>
            <a:br/>
          </a:p>
          <a:p>
            <a:pPr lvl="1"/>
            <a:r>
              <a:rPr>
                <a:latin typeface="Courier"/>
              </a:rPr>
              <a:t>AboveExpected</a:t>
            </a:r>
            <a:r>
              <a:rPr/>
              <a:t> — classification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log(SalePrice)?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Raw SalePrice distribution is </a:t>
            </a:r>
            <a:r>
              <a:rPr b="1"/>
              <a:t>strongly right-skewed</a:t>
            </a:r>
          </a:p>
          <a:p>
            <a:pPr lvl="0"/>
            <a:r>
              <a:rPr/>
              <a:t>Variance increases with price, violating OLS assumptions</a:t>
            </a:r>
          </a:p>
          <a:p>
            <a:pPr lvl="0"/>
            <a:r>
              <a:rPr/>
              <a:t>Log transformation stabilizes variance and improves normality</a:t>
            </a:r>
          </a:p>
        </p:txBody>
      </p:sp>
      <p:pic>
        <p:nvPicPr>
          <p:cNvPr descr="Project_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Neighborhood Effects: ANOVA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One-way ANOVA confirms </a:t>
            </a:r>
            <a:r>
              <a:rPr b="1"/>
              <a:t>significant price differences</a:t>
            </a:r>
            <a:r>
              <a:rPr/>
              <a:t> across neighborhoods</a:t>
            </a:r>
          </a:p>
          <a:p>
            <a:pPr lvl="0"/>
            <a:r>
              <a:rPr/>
              <a:t>Strong evidence of spatial heterogeneity</a:t>
            </a:r>
          </a:p>
          <a:p>
            <a:pPr lvl="0"/>
            <a:r>
              <a:rPr/>
              <a:t>Differences persist even before controlling for structure</a:t>
            </a:r>
          </a:p>
        </p:txBody>
      </p:sp>
      <p:pic>
        <p:nvPicPr>
          <p:cNvPr descr="Project_slides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Baseline OLS Model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OLS explains a large share of price variation (Adjusted R² ≈ 0.84)</a:t>
            </a:r>
          </a:p>
          <a:p>
            <a:pPr lvl="0"/>
            <a:r>
              <a:rPr/>
              <a:t>Dominant predictors:</a:t>
            </a:r>
          </a:p>
          <a:p>
            <a:pPr lvl="1"/>
            <a:r>
              <a:rPr/>
              <a:t>Overall quality</a:t>
            </a:r>
          </a:p>
          <a:p>
            <a:pPr lvl="1"/>
            <a:r>
              <a:rPr/>
              <a:t>Above-ground living area</a:t>
            </a:r>
          </a:p>
          <a:p>
            <a:pPr lvl="1"/>
            <a:r>
              <a:rPr/>
              <a:t>Neighborhood</a:t>
            </a:r>
          </a:p>
          <a:p>
            <a:pPr lvl="0"/>
            <a:r>
              <a:rPr/>
              <a:t>Effects persist after controlling for structure</a:t>
            </a:r>
          </a:p>
        </p:txBody>
      </p:sp>
      <p:pic>
        <p:nvPicPr>
          <p:cNvPr descr="Project_slides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OLS Diagnostics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Linearity assumption appears reasonable</a:t>
            </a:r>
          </a:p>
          <a:p>
            <a:pPr lvl="0"/>
            <a:r>
              <a:rPr/>
              <a:t>No strong evidence of heteroscedasticity after log transformation</a:t>
            </a:r>
          </a:p>
          <a:p>
            <a:pPr lvl="0"/>
            <a:r>
              <a:rPr/>
              <a:t>No single observation unduly influences results</a:t>
            </a:r>
          </a:p>
        </p:txBody>
      </p:sp>
      <p:pic>
        <p:nvPicPr>
          <p:cNvPr descr="Project_slides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Predicting Above-Expected Sales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Define AboveExpected relative to OLS-predicted price</a:t>
            </a:r>
          </a:p>
          <a:p>
            <a:pPr lvl="0"/>
            <a:r>
              <a:rPr/>
              <a:t>Logistic regression estimates probability of selling above expected value</a:t>
            </a:r>
          </a:p>
          <a:p>
            <a:pPr lvl="0"/>
            <a:r>
              <a:rPr/>
              <a:t>Residual-based outcome introduces inherent noise</a:t>
            </a:r>
          </a:p>
        </p:txBody>
      </p:sp>
      <p:pic>
        <p:nvPicPr>
          <p:cNvPr descr="Project_slides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Bootstrap Inference &amp; Key Takeaways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OLS performs well for explanation</a:t>
            </a:r>
          </a:p>
          <a:p>
            <a:pPr lvl="0"/>
            <a:r>
              <a:rPr/>
              <a:t>Classification highlights market noise</a:t>
            </a:r>
          </a:p>
          <a:p>
            <a:pPr lvl="0"/>
            <a:r>
              <a:rPr/>
              <a:t>Bootstrap provides robust uncertainty quantification</a:t>
            </a:r>
          </a:p>
        </p:txBody>
      </p:sp>
      <p:pic>
        <p:nvPicPr>
          <p:cNvPr descr="Project_slides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the Dynamics of Housing Prices</dc:title>
  <dc:creator>Saadman Chowdhury, Brandon Kokin, Ayrat Aymetov</dc:creator>
  <cp:keywords/>
  <dcterms:created xsi:type="dcterms:W3CDTF">2025-12-18T13:18:56Z</dcterms:created>
  <dcterms:modified xsi:type="dcterms:W3CDTF">2025-12-18T13:18:56Z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